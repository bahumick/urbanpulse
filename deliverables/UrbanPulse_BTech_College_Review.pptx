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fe9df0da64857" /><Relationship Type="http://schemas.openxmlformats.org/officeDocument/2006/relationships/extended-properties" Target="/docProps/app.xml" Id="Rf14c5249211f4309" /><Relationship Type="http://schemas.openxmlformats.org/officeDocument/2006/relationships/officeDocument" Target="/ppt/presentation.xml" Id="R060b23c494c04f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cd5c4fdd54667"/>
  </p:sldMasterIdLst>
  <p:notesMasterIdLst>
    <p:notesMasterId xmlns:r="http://schemas.openxmlformats.org/officeDocument/2006/relationships" r:id="R57d60062f1c6465d"/>
  </p:notesMasterIdLst>
  <p:sldIdLst>
    <p:sldId xmlns:r="http://schemas.openxmlformats.org/officeDocument/2006/relationships" id="256" r:id="R790827ca5a7d4540"/>
    <p:sldId xmlns:r="http://schemas.openxmlformats.org/officeDocument/2006/relationships" id="257" r:id="Ra7d0e5a634594baa"/>
    <p:sldId xmlns:r="http://schemas.openxmlformats.org/officeDocument/2006/relationships" id="258" r:id="R47ac1ca4ae1b4176"/>
    <p:sldId xmlns:r="http://schemas.openxmlformats.org/officeDocument/2006/relationships" id="259" r:id="R7031814773ec46e5"/>
    <p:sldId xmlns:r="http://schemas.openxmlformats.org/officeDocument/2006/relationships" id="260" r:id="R8c4aaeed1a3e474b"/>
    <p:sldId xmlns:r="http://schemas.openxmlformats.org/officeDocument/2006/relationships" id="261" r:id="Rf867a22e9c364acb"/>
    <p:sldId xmlns:r="http://schemas.openxmlformats.org/officeDocument/2006/relationships" id="262" r:id="Rbcb52b05c284423c"/>
    <p:sldId xmlns:r="http://schemas.openxmlformats.org/officeDocument/2006/relationships" id="263" r:id="R5807ad6b76c5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9246a2c044c25" /><Relationship Type="http://schemas.openxmlformats.org/officeDocument/2006/relationships/slideMaster" Target="/ppt/slideMasters/slideMaster1.xml" Id="R314cd5c4fdd54667" /><Relationship Type="http://schemas.openxmlformats.org/officeDocument/2006/relationships/notesMaster" Target="/ppt/notesMasters/notesMaster1.xml" Id="R57d60062f1c6465d" /><Relationship Type="http://schemas.openxmlformats.org/officeDocument/2006/relationships/presProps" Target="/ppt/presProps.xml" Id="Rf716c078b62c47b1" /><Relationship Type="http://schemas.openxmlformats.org/officeDocument/2006/relationships/tableStyles" Target="/ppt/tableStyles.xml" Id="Rf287975769044920" /><Relationship Type="http://schemas.openxmlformats.org/officeDocument/2006/relationships/slide" Target="/ppt/slides/slide1.xml" Id="R790827ca5a7d4540" /><Relationship Type="http://schemas.openxmlformats.org/officeDocument/2006/relationships/slide" Target="/ppt/slides/slide2.xml" Id="Ra7d0e5a634594baa" /><Relationship Type="http://schemas.openxmlformats.org/officeDocument/2006/relationships/slide" Target="/ppt/slides/slide3.xml" Id="R47ac1ca4ae1b4176" /><Relationship Type="http://schemas.openxmlformats.org/officeDocument/2006/relationships/slide" Target="/ppt/slides/slide4.xml" Id="R7031814773ec46e5" /><Relationship Type="http://schemas.openxmlformats.org/officeDocument/2006/relationships/slide" Target="/ppt/slides/slide5.xml" Id="R8c4aaeed1a3e474b" /><Relationship Type="http://schemas.openxmlformats.org/officeDocument/2006/relationships/slide" Target="/ppt/slides/slide6.xml" Id="Rf867a22e9c364acb" /><Relationship Type="http://schemas.openxmlformats.org/officeDocument/2006/relationships/slide" Target="/ppt/slides/slide7.xml" Id="Rbcb52b05c284423c" /><Relationship Type="http://schemas.openxmlformats.org/officeDocument/2006/relationships/slide" Target="/ppt/slides/slide8.xml" Id="R5807ad6b76c5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36ffa46cd6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1c905b4c44f43" /><Relationship Type="http://schemas.openxmlformats.org/officeDocument/2006/relationships/notesMaster" Target="/ppt/notesMasters/notesMaster1.xml" Id="R45b39f1daec5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2b5c3a7da472d" /><Relationship Type="http://schemas.openxmlformats.org/officeDocument/2006/relationships/notesMaster" Target="/ppt/notesMasters/notesMaster1.xml" Id="Rd1cc37f0f990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e2d327dd543fb" /><Relationship Type="http://schemas.openxmlformats.org/officeDocument/2006/relationships/notesMaster" Target="/ppt/notesMasters/notesMaster1.xml" Id="R635e4d4c26b947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1680913954c34" /><Relationship Type="http://schemas.openxmlformats.org/officeDocument/2006/relationships/notesMaster" Target="/ppt/notesMasters/notesMaster1.xml" Id="Rc753d6f7143f44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2faca889b44320" /><Relationship Type="http://schemas.openxmlformats.org/officeDocument/2006/relationships/notesMaster" Target="/ppt/notesMasters/notesMaster1.xml" Id="R1622e208d802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dc479f205a4bef" /><Relationship Type="http://schemas.openxmlformats.org/officeDocument/2006/relationships/notesMaster" Target="/ppt/notesMasters/notesMaster1.xml" Id="R12800f472f92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b39d0ec3e847a5" /><Relationship Type="http://schemas.openxmlformats.org/officeDocument/2006/relationships/notesMaster" Target="/ppt/notesMasters/notesMaster1.xml" Id="R90ec37b62c514e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697fccb11b4828" /><Relationship Type="http://schemas.openxmlformats.org/officeDocument/2006/relationships/notesMaster" Target="/ppt/notesMasters/notesMaster1.xml" Id="R2f715965d7f2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UrbanPulse as a full-stack academic demonstration project. Replace the name, ID, guide and institution placeholders before presenting. The current implementation is a rule-based reporting and triage workflow, not a deployed city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project problem, not as measured findings about a particular city. UrbanPulse addresses the workflow with structured reports, explainable rule-based scores, a map and an in-app alert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goals in order. Make clear that the alert is an in-app record with a routed authority label; the code does not send email, SMS or connect to external municipal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request from left to right. The API client reads VITE_API_URL; local Vite proxies /api and /uploads to the backend. Upload metadata lives in PostgreSQL while file bytes live on disk under UPLOAD_DIR or the default backend/uploads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a single report moving through the application. The issue row is created before evidence metadata and alert evaluation; the resulting response includes the issue and any generated alert. The status flow is issue-to-alert, not bidirectional.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scoring is transparent and deterministic. The alert rule has two paths: score threshold, or High/Critical severity. The example uses an isolated verification record with no nearby issues and confirms the separate severity path below the numeric threshold. Source: backend/src/services/priorityService.js and backend/src/services/alertService.js.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results came from a disposable review database and temporary upload directory, not the existing application database. The existing user data and uploads were not used for writes. Mention that viewport-specific and browser-console checks remain untested.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by summarizing the completed demonstrator and its current boundaries. Future scope is proposed work, not implemented functionality. Invite questions; replace the presenter and institution placeholders before the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45e8c39cb40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9d0d968a949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b3282921d43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46d64e71c48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3c768c2484f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d00c58fc1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64B960-4D94-407C-A7E9-CBF29E475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B0545-1941-482A-9616-79EF3E21E7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77EE15-29D9-48C7-8799-DC30F840B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32857D-79CE-4D66-B6E5-52A86D106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C326FB-0CBB-43C1-B5E7-8C3749092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4F8778-C005-4526-A067-76EE2492A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D7A209-68F2-4B62-A2A8-52C810763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D48198-47A2-4B82-A8BC-9479E2D01E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E5E2B-56E1-41CB-AC2E-9D7F0EC36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88B64C-2307-43E9-9636-B9FA5DCD7A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8a04fa9034af2" /><Relationship Type="http://schemas.openxmlformats.org/officeDocument/2006/relationships/slideLayout" Target="/ppt/slideLayouts/slideLayout1.xml" Id="R77f610a1230e4e0f" /><Relationship Type="http://schemas.openxmlformats.org/officeDocument/2006/relationships/slideLayout" Target="/ppt/slideLayouts/slideLayout2.xml" Id="R18d02730ed114a4e" /><Relationship Type="http://schemas.openxmlformats.org/officeDocument/2006/relationships/slideLayout" Target="/ppt/slideLayouts/slideLayout3.xml" Id="R5ff87d7a9c394bf9" /><Relationship Type="http://schemas.openxmlformats.org/officeDocument/2006/relationships/slideLayout" Target="/ppt/slideLayouts/slideLayout4.xml" Id="Rc699a17df20b4600" /><Relationship Type="http://schemas.openxmlformats.org/officeDocument/2006/relationships/slideLayout" Target="/ppt/slideLayouts/slideLayout5.xml" Id="Rd09b97a639f645e0" /><Relationship Type="http://schemas.openxmlformats.org/officeDocument/2006/relationships/slideLayout" Target="/ppt/slideLayouts/slideLayout6.xml" Id="R2e16fb8b46db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f610a1230e4e0f"/>
    <p:sldLayoutId xmlns:r="http://schemas.openxmlformats.org/officeDocument/2006/relationships" id="2147483650" r:id="R18d02730ed114a4e"/>
    <p:sldLayoutId xmlns:r="http://schemas.openxmlformats.org/officeDocument/2006/relationships" id="2147483651" r:id="R5ff87d7a9c394bf9"/>
    <p:sldLayoutId xmlns:r="http://schemas.openxmlformats.org/officeDocument/2006/relationships" id="2147483652" r:id="Rc699a17df20b4600"/>
    <p:sldLayoutId xmlns:r="http://schemas.openxmlformats.org/officeDocument/2006/relationships" id="2147483653" r:id="Rd09b97a639f645e0"/>
    <p:sldLayoutId xmlns:r="http://schemas.openxmlformats.org/officeDocument/2006/relationships" id="2147483654" r:id="R2e16fb8b46db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e04dbe0bc40bc" /><Relationship Type="http://schemas.openxmlformats.org/officeDocument/2006/relationships/notesSlide" Target="/ppt/notesSlides/notesSlide1.xml" Id="R3f8251ced1bf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06366139c4e0d" /><Relationship Type="http://schemas.openxmlformats.org/officeDocument/2006/relationships/notesSlide" Target="/ppt/notesSlides/notesSlide2.xml" Id="Rebffc9b2d02b48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fc61c52344e28" /><Relationship Type="http://schemas.openxmlformats.org/officeDocument/2006/relationships/notesSlide" Target="/ppt/notesSlides/notesSlide3.xml" Id="Rddccdf082d5f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d3ae605834bea" /><Relationship Type="http://schemas.openxmlformats.org/officeDocument/2006/relationships/notesSlide" Target="/ppt/notesSlides/notesSlide4.xml" Id="R63b72bb24295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d69addf444485" /><Relationship Type="http://schemas.openxmlformats.org/officeDocument/2006/relationships/notesSlide" Target="/ppt/notesSlides/notesSlide5.xml" Id="R4bb53c224cb7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5256f09c94a8c" /><Relationship Type="http://schemas.openxmlformats.org/officeDocument/2006/relationships/notesSlide" Target="/ppt/notesSlides/notesSlide6.xml" Id="Rdb4c66cc900e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df26ca4154c65" /><Relationship Type="http://schemas.openxmlformats.org/officeDocument/2006/relationships/notesSlide" Target="/ppt/notesSlides/notesSlide7.xml" Id="R7ec6905d3fda4a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333b01aed474b" /><Relationship Type="http://schemas.openxmlformats.org/officeDocument/2006/relationships/notesSlide" Target="/ppt/notesSlides/notesSlide8.xml" Id="R5b261ac67fdb47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218AC-2393-4615-91A1-C48EE08D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B.TECH FINAL YEAR 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D6C7-1014-4546-89AB-2A9259D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UrbanPulse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E6A39-FBBB-4524-A653-8EA0486D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84D9E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84D9E6"/>
                </a:solidFill>
                <a:latin typeface="Arial"/>
                <a:ea typeface="Arial"/>
                <a:cs typeface="Arial"/>
              </a:rPr>
              <a:t>City Infrastructure Anomaly &amp; Impact Intelligence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E6919-2672-49DD-98AC-052780A8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A web application for reporting, prioritizing and tracking civic infrastructure issues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E1E96-7512-49D6-B728-9C99D078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Project presenter  [Your Name]     •     Roll / ID  [Your ID]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75E4-3253-41FB-B4D6-824F2162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Guide  [Guide Name]     •     Department / College  [Institution]</a:t>
            </a:r>
          </a:p>
        </p:txBody>
      </p:sp>
    </p:spTree>
    <p:extLst>
      <p:ext uri="{BB962C8B-B14F-4D97-AF65-F5344CB8AC3E}">
        <p14:creationId xmlns:p14="http://schemas.microsoft.com/office/powerpoint/2010/main" val="988995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C634C-3EC3-46CB-851E-1BCE1774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00346-7118-4D44-86AD-165263C2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197A8-171E-44FA-80B2-CF14B747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4D9E6"/>
                </a:solidFill>
                <a:latin typeface="Arial"/>
                <a:ea typeface="Arial"/>
                <a:cs typeface="Arial"/>
              </a:rPr>
              <a:t>Civic issues are easy to report, but harder to compare and follow through.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D0461-BC30-48B8-82F0-93BFF1F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22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REPORTS ARRIVE THROUGH DIFFERENT CHANNELS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94440-EE62-49CB-8056-4BC8835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Location, category, severity and evidence may be captured inconsistently.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73423-A97B-4285-92A5-5480859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URGENCY IS NOT ALWAYS OBVIOUS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57C-6816-4028-899A-4A32F87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A list alone does not show which issue needs attention first or where reports cluster.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401F8-4BD8-4D54-A0ED-B8AD70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FOLLOW-UP CAN BE DISCONNECTED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CFEF-BE92-4C96-A4E5-ACC61198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Issue status and municipal response need a shared place to be tracked.</a:t>
            </a:r>
          </a:p>
        </p:txBody>
      </p:sp>
    </p:spTree>
    <p:extLst>
      <p:ext uri="{BB962C8B-B14F-4D97-AF65-F5344CB8AC3E}">
        <p14:creationId xmlns:p14="http://schemas.microsoft.com/office/powerpoint/2010/main" val="819813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5F9AC-26F2-48CC-8855-D5691EE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Objectives and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24480-04F7-416B-8129-D9E7425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2082F-C6AB-4A07-9465-8E900499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01  CAPTURE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0BED-EAB0-43FD-B8D4-F8BCC43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000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Collect a structured issue report with category, severity, coordinates and optional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2B063-09EB-4C67-9328-4FE15CA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02  TRIAGE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618B2-B23C-4275-B437-F42C53F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000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Calculate explainable priority and impact scores, then apply a documented alert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29A59-234E-4BF8-93ED-28A8965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03 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18ACC-1C4C-4D8B-A1C3-EB1D924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000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Review reports in list, dashboard and map views; update issue and alert statuses.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BB841-FAEE-4D0D-9E2C-14733C9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Current scope: browser app + REST API + PostgreSQL + local disk evidence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8B1A3-0D10-46CF-8260-D686E22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C16B"/>
                </a:solidFill>
                <a:latin typeface="Arial"/>
                <a:ea typeface="Arial"/>
                <a:cs typeface="Arial"/>
              </a:rPr>
              <a:t>No trained ML model, live sensor feed, authentication or external notification integration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1284720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BFAF7-3714-4768-96B3-EB306E3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System Architecture and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391C2-F24E-41E6-BDB2-62C3FF16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FBE4A-463D-49E3-8367-8CE115B7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450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A4B7B-F31F-4A7A-BDCD-BBB349B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F7159-866C-47C1-9575-62D47C8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400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>
            <a:def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React 18 + Vite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React Router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Leaflet map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Fetch / FormData API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70F80-5419-4AC9-AF93-209E255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4D9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84AEF-380A-4301-8B63-2CEF283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71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450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674C-551B-4F99-A71A-1A9B5B1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BACKEND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6AE87-7670-43F2-ACB6-ED63FAF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768"/>
          </a:bodyPr>
          <a:lstStyle xmlns:a="http://schemas.openxmlformats.org/drawingml/2006/main">
            <a:def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Node.js + Express 4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Routes → controllers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Priority / impact rules</a:t>
            </a:r>
          </a:p>
          <a:p xmlns:a="http://schemas.openxmlformats.org/drawingml/2006/main">
            <a:pPr algn="l">
              <a:defRPr sz="172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Multer upload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D5699-EE95-4AA2-9A40-EF9C897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4D9E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0032C-7D6D-4FBA-A823-6681A55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450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3CD9D-D6EA-482E-89B7-860F5B5F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8230B-ABEA-4D82-A6C3-CD0A5C5F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778"/>
          </a:bodyPr>
          <a:lstStyle xmlns:a="http://schemas.openxmlformats.org/drawingml/2006/main">
            <a:def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issues • alerts • evidence metadata</a:t>
            </a:r>
          </a:p>
          <a:p xmlns:a="http://schemas.openxmlformats.org/drawingml/2006/main">
            <a: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Configured local upload directory</a:t>
            </a:r>
          </a:p>
          <a:p xmlns:a="http://schemas.openxmlformats.org/drawingml/2006/main">
            <a:pPr algn="l">
              <a:defRPr sz="15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Static media under /uploads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099DA-39D7-441A-8DFD-F5D6E86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BACB"/>
                </a:solidFill>
                <a:latin typeface="Arial"/>
                <a:ea typeface="Arial"/>
                <a:cs typeface="Arial"/>
              </a:rPr>
              <a:t>Request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EE1EA-2FD4-45BA-96F5-9A76D56D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Browser → JSON or multipart request → Express route/controller → PostgreSQL + upload storage → JSON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6D9C0-D04A-46F2-97C8-6D0E593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879B"/>
                </a:solidFill>
                <a:latin typeface="Arial"/>
                <a:ea typeface="Arial"/>
                <a:cs typeface="Arial"/>
              </a:rPr>
              <a:t>Local setup: Vite :5173  •  API :5000  •  PostgreSQL default :5432</a:t>
            </a:r>
          </a:p>
        </p:txBody>
      </p:sp>
    </p:spTree>
    <p:extLst>
      <p:ext uri="{BB962C8B-B14F-4D97-AF65-F5344CB8AC3E}">
        <p14:creationId xmlns:p14="http://schemas.microsoft.com/office/powerpoint/2010/main" val="1660530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C392B-2242-42E5-8264-7DA000B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Modules and Issue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0F4B4-8494-4316-A5E1-398E172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47092-38DB-4552-9D8C-335CC4D5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1 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C573-DDC2-4DFD-809C-CCAF4A7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Form captures issue fields and optional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A20EB-8F98-4DB9-A8A4-2B57E30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2 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1859C-BE23-4CA2-843B-2E236F7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Frontend checks inputs; backend validates fields, file type and signature.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8200-0E70-4CEA-9231-2FFE80C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3  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3861A-2252-4826-B81E-5A4E2DA8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Issue and evidence metadata are written to PostgreSQL; bytes go to disk.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33EBF-16CD-4277-ACCB-ACAF60FA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4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3CE25-C2A1-4B95-A251-50B6A160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Rule service calculates priority and impact from issue fields and nearby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D2FAB-6C35-4221-9509-4E9D7154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5  ALERT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AAC41-2A07-43E3-838E-06C59D4B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Eligible issues get one in-app alert routed to a sector authority label.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C51FB-8E26-4759-9C57-34F7DF8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6  TRACK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4355-001B-4B23-8EC4-C9138D26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Dashboard, issue list, analytics and map show records; status changes sync alerts.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6B34A-87EB-4AC0-9655-BD4F7E3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Pages: Dashboard  •  Issues  •  Report Issue  •  Alerts  •  Analytics  •  Map</a:t>
            </a:r>
          </a:p>
        </p:txBody>
      </p:sp>
    </p:spTree>
    <p:extLst>
      <p:ext uri="{BB962C8B-B14F-4D97-AF65-F5344CB8AC3E}">
        <p14:creationId xmlns:p14="http://schemas.microsoft.com/office/powerpoint/2010/main" val="89979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522AD-D819-46BC-86E5-4BF0B873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Priority, Impact and Alert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614D0-46D3-4EBE-BF7A-BE13EAE9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459F7-1922-422F-A107-6CA214A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PRIORITY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B2268-B869-4AFE-9098-A10E1F85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Severity + status + category + nearby-report bonus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34638-C37B-4927-8D35-37903F20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Weights: severity 10–40; status 0–15; category 5–15; density +5 per nearby report, capped at 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B489D-4FA3-4A05-8464-B812B43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95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IMPACT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CED04-B236-4465-95E8-B2973023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Severity + category + status + density, capped at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773C2-BFDB-4B66-BD2A-5D5ED1CC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ACB"/>
                </a:solidFill>
                <a:latin typeface="Arial"/>
                <a:ea typeface="Arial"/>
                <a:cs typeface="Arial"/>
              </a:rPr>
              <a:t>Severity 10–45; category 5–25; status 0–15; same density approximation. Levels: Low, Moderate, High, Critical.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1B403-1D88-41BD-BD97-56E1B53A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95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ALERT 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8CAF0-393F-4731-AC8A-DF86E82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Not resolved AND (score ≥ 55 OR severity is High/Critical)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2ABDD-5D21-4453-B191-E94A0E7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Example verified in isolated DB: High + Other + Reported = 30 + 5 + 15 = 50; High severity still triggers an alert.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BA25B-1B99-4F31-9FB1-9464F77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C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C16B"/>
                </a:solidFill>
                <a:latin typeface="Arial"/>
                <a:ea typeface="Arial"/>
                <a:cs typeface="Arial"/>
              </a:rPr>
              <a:t>Density is a ±0.01° latitude/longitude bounding-box check, not an exact 1 km radius. All intelligence is deterministic; no trained ML model is present.</a:t>
            </a:r>
          </a:p>
        </p:txBody>
      </p:sp>
    </p:spTree>
    <p:extLst>
      <p:ext uri="{BB962C8B-B14F-4D97-AF65-F5344CB8AC3E}">
        <p14:creationId xmlns:p14="http://schemas.microsoft.com/office/powerpoint/2010/main" val="1427065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CBD27-0A08-48FC-BEFD-18B1D36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Implementation and Verified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24C2F-317D-4118-A14B-F89EC9A8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17DEA-8E3B-4082-A3A7-15141B1B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ISOLATED INTEGRATION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20A51-D877-4B07-B28C-D57CB0B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91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Health endpoint returned 200 with database UP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Issue create / retrieve and priority / impact lookup succeeded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A High-severity score-50 issue generated an alert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In Progress acknowledged its alert; Resolved resolved it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Valid PNG uploaded, linked, then retrieved byte-for-byte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Fake image and unsupported file type were rejected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Schema rerun kept seed count at 3 (3 after first and second run)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F86DD-3F6C-4434-8854-6417282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52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1C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C16B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B439F-04B4-4FDD-B0B1-F835FF32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Tests used a newly created disposable database and temporary upload folder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UI review was on the available smaller browser viewport; 1366 × 768 was unavailable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Browser console / network logs were not exposed by available tools</a:t>
            </a:r>
          </a:p>
          <a:p xmlns:a="http://schemas.openxmlformats.org/drawingml/2006/main">
            <a:pPr algn="l">
              <a:defRPr sz="1650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• No auth, trained ML, live sensors, external alerts or cloud media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C89A4-A477-45A9-BE74-2B8FF3D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9BAC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ACB"/>
                </a:solidFill>
                <a:latin typeface="Arial"/>
                <a:ea typeface="Arial"/>
                <a:cs typeface="Arial"/>
              </a:rPr>
              <a:t>The checked integration results are not deployment or production-readiness evidence.</a:t>
            </a:r>
          </a:p>
        </p:txBody>
      </p:sp>
    </p:spTree>
    <p:extLst>
      <p:ext uri="{BB962C8B-B14F-4D97-AF65-F5344CB8AC3E}">
        <p14:creationId xmlns:p14="http://schemas.microsoft.com/office/powerpoint/2010/main" val="969410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DA76-35B9-41BA-84DE-C4CF03F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Conclusion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C8561-4E50-462E-9355-689D77F5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BF953-6821-4386-9873-130A484B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09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336"/>
          </a:bodyPr>
          <a:lstStyle xmlns:a="http://schemas.openxmlformats.org/drawingml/2006/main">
            <a:def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84D9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84D9E6"/>
                </a:solidFill>
                <a:latin typeface="Arial"/>
                <a:ea typeface="Arial"/>
                <a:cs typeface="Arial"/>
              </a:rPr>
              <a:t>UrbanPulse connects structured reporting, explainable triage and status tracking in one working web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4CDBB-4306-43B9-8DB3-E9D01CFA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AD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D6C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51C2-AEB8-4968-A51E-F7ED83D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66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Authentication and role-based access</a:t>
            </a:r>
          </a:p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Persistent shared media storage</a:t>
            </a:r>
          </a:p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External authority notifications</a:t>
            </a:r>
          </a:p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PostGIS distance queries</a:t>
            </a:r>
          </a:p>
          <a:p xmlns:a="http://schemas.openxmlformats.org/drawingml/2006/main">
            <a:pPr algn="l">
              <a:defRPr sz="1875" b="0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4FA"/>
                </a:solidFill>
                <a:latin typeface="Arial"/>
                <a:ea typeface="Arial"/>
                <a:cs typeface="Arial"/>
              </a:rPr>
              <a:t>Historical-data model only after a suitable dataset and evaluation plan exist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F9201-15AC-4AA8-B2B6-DD4AB62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21"/>
          </a:bodyPr>
          <a:lstStyle xmlns:a="http://schemas.openxmlformats.org/drawingml/2006/main">
            <a:def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EEF4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F4FA"/>
                </a:solidFill>
                <a:latin typeface="Arial"/>
                <a:ea typeface="Arial"/>
                <a:cs typeface="Arial"/>
              </a:rPr>
              <a:t>Questions &amp;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4DAE2-F75D-4431-91DC-3F888E0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F87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879B"/>
                </a:solidFill>
                <a:latin typeface="Arial"/>
                <a:ea typeface="Arial"/>
                <a:cs typeface="Arial"/>
              </a:rPr>
              <a:t>[Your Name]  •  [Department / College]</a:t>
            </a:r>
          </a:p>
        </p:txBody>
      </p:sp>
    </p:spTree>
    <p:extLst>
      <p:ext uri="{BB962C8B-B14F-4D97-AF65-F5344CB8AC3E}">
        <p14:creationId xmlns:p14="http://schemas.microsoft.com/office/powerpoint/2010/main" val="698849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2026-10-20T15:43:54.3740000Z</dcterms:created>
  <dcterms:modified xsi:type="dcterms:W3CDTF">2026-10-20T15:43:54.3740000Z</dcterms:modified>
</coreProperties>
</file>